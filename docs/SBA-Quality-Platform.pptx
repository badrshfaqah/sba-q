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عرض تعريفي شامل لمنصة متابعة جودة البث والمحتوى الإذاعي.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الأرقام في الرسم من بيانات تشغيل حقيقية داخل النظام.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6035040" cy="6035040"/>
          </a:xfrm>
          <a:prstGeom prst="ellipse">
            <a:avLst/>
          </a:prstGeom>
          <a:solidFill>
            <a:srgbClr val="2A2D6B"/>
          </a:solidFill>
          <a:ln/>
        </p:spPr>
      </p:sp>
      <p:sp>
        <p:nvSpPr>
          <p:cNvPr id="3" name="Shape 1"/>
          <p:cNvSpPr/>
          <p:nvPr/>
        </p:nvSpPr>
        <p:spPr>
          <a:xfrm>
            <a:off x="-1737360" y="4023360"/>
            <a:ext cx="4206240" cy="4206240"/>
          </a:xfrm>
          <a:prstGeom prst="ellipse">
            <a:avLst/>
          </a:prstGeom>
          <a:solidFill>
            <a:srgbClr val="47704C"/>
          </a:solidFill>
          <a:ln/>
        </p:spPr>
      </p:sp>
      <p:sp>
        <p:nvSpPr>
          <p:cNvPr id="4" name="Shape 2"/>
          <p:cNvSpPr/>
          <p:nvPr/>
        </p:nvSpPr>
        <p:spPr>
          <a:xfrm>
            <a:off x="9747504" y="457200"/>
            <a:ext cx="1874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</p:spPr>
      </p:sp>
      <p:pic>
        <p:nvPicPr>
          <p:cNvPr id="5" name="Image 0" descr="/Users/badrshfaqah/project/sba-quality/assets/img/SB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2" y="566928"/>
            <a:ext cx="1371600" cy="941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148840"/>
            <a:ext cx="11055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متابعة جودة البث والمحتوى الإذاعي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66928" y="329184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9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حوكمة إعلامي متكامل لقياس الجودة ومتابعة الانضباط التشغيلي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787384" y="3977640"/>
            <a:ext cx="2834640" cy="32004"/>
          </a:xfrm>
          <a:prstGeom prst="rect">
            <a:avLst/>
          </a:prstGeom>
          <a:solidFill>
            <a:srgbClr val="789A3D"/>
          </a:solidFill>
          <a:ln/>
        </p:spPr>
      </p:sp>
      <p:sp>
        <p:nvSpPr>
          <p:cNvPr id="9" name="Shape 6"/>
          <p:cNvSpPr/>
          <p:nvPr/>
        </p:nvSpPr>
        <p:spPr>
          <a:xfrm>
            <a:off x="8275320" y="434340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2A2D6B"/>
          </a:solidFill>
          <a:ln w="9525">
            <a:solidFill>
              <a:srgbClr val="4548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75320" y="434340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3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+ MySQL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4343400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2A2D6B"/>
          </a:solidFill>
          <a:ln w="9525">
            <a:solidFill>
              <a:srgbClr val="4548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43434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C3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عربي RTL بالكامل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09160" y="434340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2A2D6B"/>
          </a:solidFill>
          <a:ln w="9525">
            <a:solidFill>
              <a:srgbClr val="4548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43434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C3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جوال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154680" y="434340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2A2D6B"/>
          </a:solidFill>
          <a:ln w="9525">
            <a:solidFill>
              <a:srgbClr val="4548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54680" y="43434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C3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ذكاء أعمال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964424" y="5943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7C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الإصدار 1.8.0   • 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هذه المنصة؟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متابعة متفرقة بالملفات والجداول اليدوية — إلى قرار مبني على البيانات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62956" cy="1572768"/>
          </a:xfrm>
          <a:prstGeom prst="roundRect">
            <a:avLst>
              <a:gd name="adj" fmla="val 5814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16652" y="1828800"/>
            <a:ext cx="475488" cy="475488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6" name="Text 4"/>
          <p:cNvSpPr/>
          <p:nvPr/>
        </p:nvSpPr>
        <p:spPr>
          <a:xfrm>
            <a:off x="5216652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847088"/>
            <a:ext cx="4265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 غير موحّد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267712"/>
            <a:ext cx="48143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مقيّم يجتهد بمعاييره الخاصة، والنتائج غير قابلة للمقارنة بين البرامج والإذاعات.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9068" y="1572768"/>
            <a:ext cx="5362956" cy="1572768"/>
          </a:xfrm>
          <a:prstGeom prst="roundRect">
            <a:avLst>
              <a:gd name="adj" fmla="val 5814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08792" y="1828800"/>
            <a:ext cx="475488" cy="475488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1" name="Text 9"/>
          <p:cNvSpPr/>
          <p:nvPr/>
        </p:nvSpPr>
        <p:spPr>
          <a:xfrm>
            <a:off x="10908792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3388" y="1847088"/>
            <a:ext cx="4265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مبعثرة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3388" y="2267712"/>
            <a:ext cx="48143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ملفات Excel متفرقة ورسائل، بلا مرجع واحد يُبنى عليه القرار أو تُتتبع فيه المسؤولية.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419856"/>
            <a:ext cx="5362956" cy="1572768"/>
          </a:xfrm>
          <a:prstGeom prst="roundRect">
            <a:avLst>
              <a:gd name="adj" fmla="val 5814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6652" y="3675888"/>
            <a:ext cx="475488" cy="475488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6" name="Text 14"/>
          <p:cNvSpPr/>
          <p:nvPr/>
        </p:nvSpPr>
        <p:spPr>
          <a:xfrm>
            <a:off x="5216652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" y="3694176"/>
            <a:ext cx="4265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رؤية للأنماط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" y="4114800"/>
            <a:ext cx="48143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يصعب اكتشاف تكرار الخلل في وقت أو إذاعة بعينها قبل أن يتحول إلى ظاهرة.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9068" y="3419856"/>
            <a:ext cx="5362956" cy="1572768"/>
          </a:xfrm>
          <a:prstGeom prst="roundRect">
            <a:avLst>
              <a:gd name="adj" fmla="val 5814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08792" y="3675888"/>
            <a:ext cx="475488" cy="475488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21" name="Text 19"/>
          <p:cNvSpPr/>
          <p:nvPr/>
        </p:nvSpPr>
        <p:spPr>
          <a:xfrm>
            <a:off x="10908792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33388" y="3694176"/>
            <a:ext cx="4265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المهام يدوية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33388" y="4114800"/>
            <a:ext cx="48143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وضوح لمن أنجز ومن تأخر، ولا تنبيه تلقائي عند التقصير.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12080"/>
            <a:ext cx="11055096" cy="749808"/>
          </a:xfrm>
          <a:prstGeom prst="roundRect">
            <a:avLst>
              <a:gd name="adj" fmla="val 12195"/>
            </a:avLst>
          </a:prstGeom>
          <a:solidFill>
            <a:srgbClr val="1C1E4C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5212080"/>
            <a:ext cx="10506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المنصة تجمع الأربعة في نظام واحد: معايير موحّدة، مرجع بيانات واحد، تحليل يكشف الأنماط، ومتابعة آلية للمهام.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المنصة بالأرقام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بُني فعلياً — نظام كامل جاهز للتشغيل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516886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737360"/>
            <a:ext cx="25168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2395728"/>
            <a:ext cx="25168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موديولاً مستقلاً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2998" y="1572768"/>
            <a:ext cx="2516886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2998" y="1737360"/>
            <a:ext cx="25168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12998" y="2395728"/>
            <a:ext cx="25168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بيانات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9068" y="1572768"/>
            <a:ext cx="2516886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9068" y="1737360"/>
            <a:ext cx="25168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6,671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59068" y="2395728"/>
            <a:ext cx="25168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سطر كود موثّق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05138" y="1572768"/>
            <a:ext cx="2516886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05138" y="1737360"/>
            <a:ext cx="25168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05138" y="2395728"/>
            <a:ext cx="25168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مستويات صلاحيات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127248"/>
            <a:ext cx="2516886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291840"/>
            <a:ext cx="25168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77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566928" y="3950208"/>
            <a:ext cx="25168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نماذج تقييم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12998" y="3127248"/>
            <a:ext cx="2516886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2998" y="3291840"/>
            <a:ext cx="25168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77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412998" y="3950208"/>
            <a:ext cx="25168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معيار جودة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59068" y="3127248"/>
            <a:ext cx="2516886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9068" y="3291840"/>
            <a:ext cx="25168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77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259068" y="3950208"/>
            <a:ext cx="25168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أنواع تقارير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105138" y="3127248"/>
            <a:ext cx="2516886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05138" y="3291840"/>
            <a:ext cx="25168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77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9105138" y="3950208"/>
            <a:ext cx="25168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قابلية التوسع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4892040"/>
            <a:ext cx="11055096" cy="1234440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44784" y="5138928"/>
            <a:ext cx="530352" cy="530352"/>
          </a:xfrm>
          <a:prstGeom prst="ellipse">
            <a:avLst/>
          </a:prstGeom>
          <a:solidFill>
            <a:srgbClr val="789A3D"/>
          </a:solidFill>
          <a:ln/>
        </p:spPr>
      </p:sp>
      <p:sp>
        <p:nvSpPr>
          <p:cNvPr id="30" name="Text 28"/>
          <p:cNvSpPr/>
          <p:nvPr/>
        </p:nvSpPr>
        <p:spPr>
          <a:xfrm>
            <a:off x="10844784" y="5138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86968" y="5074920"/>
            <a:ext cx="9683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يعمل على أي استضافة عادية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6968" y="5440680"/>
            <a:ext cx="9683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بدون Laravel ولا WordPress ولا Node.js في الإنتاج، وبدون Docker أو Composer بعد الرفع — يُرفع عبر FTP داخل مجلد فرعي دون أي تعارض.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173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spc="100" kern="0" dirty="0">
                <a:solidFill>
                  <a:srgbClr val="78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المفهوم الجوهري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66928" y="1828800"/>
            <a:ext cx="11055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بُعدان مستقلان</a:t>
            </a:r>
            <a:endParaRPr lang="en-US" sz="4200" dirty="0"/>
          </a:p>
          <a:p>
            <a:pPr rtl="1" algn="r"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يجوز خلطهما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3383280"/>
            <a:ext cx="11055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C3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أخطر خطأ في قياس أداء الإذاعات هو دمج «جودة ما بُث» مع «الالتزام بموعده» في رقم واحد.</a:t>
            </a:r>
            <a:endParaRPr lang="en-US" sz="1700" dirty="0"/>
          </a:p>
          <a:p>
            <a:pPr rtl="1" algn="r"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C3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المنصة تفصلهما بفريقين وشاشتين ومقياسين — ثم تجمعهما في تحليل واحد يقود القرار.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244584" y="5074920"/>
            <a:ext cx="2377440" cy="32004"/>
          </a:xfrm>
          <a:prstGeom prst="rect">
            <a:avLst/>
          </a:prstGeom>
          <a:solidFill>
            <a:srgbClr val="789A3D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الحلقات مقابل التزام البث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شيئان مختلفان تماماً — ولكلٍ فريقه وعلاجه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77356" y="1554480"/>
            <a:ext cx="5344668" cy="3154680"/>
          </a:xfrm>
          <a:prstGeom prst="roundRect">
            <a:avLst>
              <a:gd name="adj" fmla="val 2899"/>
            </a:avLst>
          </a:prstGeom>
          <a:solidFill>
            <a:srgbClr val="EAF0FB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44784" y="1810512"/>
            <a:ext cx="548640" cy="548640"/>
          </a:xfrm>
          <a:prstGeom prst="ellipse">
            <a:avLst/>
          </a:prstGeom>
          <a:solidFill>
            <a:srgbClr val="1C1E4C"/>
          </a:solidFill>
          <a:ln/>
        </p:spPr>
      </p:sp>
      <p:sp>
        <p:nvSpPr>
          <p:cNvPr id="6" name="Text 4"/>
          <p:cNvSpPr/>
          <p:nvPr/>
        </p:nvSpPr>
        <p:spPr>
          <a:xfrm>
            <a:off x="10844784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51676" y="1847088"/>
            <a:ext cx="41559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الحلقات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551676" y="2395728"/>
            <a:ext cx="4430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السؤال: </a:t>
            </a:r>
            <a:pPr algn="r" indent="0" marL="0">
              <a:buNone/>
            </a:pPr>
            <a:r>
              <a:rPr lang="en-US" sz="14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كان مستوى ما بُث؟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63656" y="28529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E4C"/>
                </a:solidFill>
              </a:rPr>
              <a:t>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51676" y="2852928"/>
            <a:ext cx="3973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تحريري وفني لمحتوى البرامج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63656" y="32735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E4C"/>
                </a:solidFill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51676" y="3273552"/>
            <a:ext cx="3973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مقياس نوعي من 10 بمعايير وأوزان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63656" y="36941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E4C"/>
                </a:solidFill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51676" y="3694176"/>
            <a:ext cx="3973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أكثر من مقيّم لكل حلقة مع منع التكرار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63656" y="41148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E4C"/>
                </a:solidFill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51676" y="4114800"/>
            <a:ext cx="3973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يقيس الإتقان — مسؤولية فريق المحتوى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1554480"/>
            <a:ext cx="5344668" cy="3154680"/>
          </a:xfrm>
          <a:prstGeom prst="roundRect">
            <a:avLst>
              <a:gd name="adj" fmla="val 2899"/>
            </a:avLst>
          </a:prstGeom>
          <a:solidFill>
            <a:srgbClr val="EDF4E6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34356" y="1810512"/>
            <a:ext cx="548640" cy="548640"/>
          </a:xfrm>
          <a:prstGeom prst="ellipse">
            <a:avLst/>
          </a:prstGeom>
          <a:solidFill>
            <a:srgbClr val="47704C"/>
          </a:solidFill>
          <a:ln/>
        </p:spPr>
      </p:sp>
      <p:sp>
        <p:nvSpPr>
          <p:cNvPr id="19" name="Text 17"/>
          <p:cNvSpPr/>
          <p:nvPr/>
        </p:nvSpPr>
        <p:spPr>
          <a:xfrm>
            <a:off x="5134356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◷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" y="1847088"/>
            <a:ext cx="41559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477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التزام البث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41248" y="2395728"/>
            <a:ext cx="47960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السؤال: </a:t>
            </a:r>
            <a:pPr algn="r" indent="0" marL="0">
              <a:buNone/>
            </a:pPr>
            <a:r>
              <a:rPr lang="en-US" sz="14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بُث ما هو مخطط له في وقته؟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3228" y="28529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704C"/>
                </a:solidFill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" y="2852928"/>
            <a:ext cx="3973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تشغيلي عند نقاط زمنية محددة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3228" y="32735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704C"/>
                </a:solidFill>
              </a:rPr>
              <a:t>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" y="3273552"/>
            <a:ext cx="3973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مقياس ثنائي: ملتزم / غير ملتزم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53228" y="36941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704C"/>
                </a:solidFill>
              </a:rPr>
              <a:t>•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" y="3694176"/>
            <a:ext cx="3973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شاشة ألوان + استيراد مباشر من Excel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3228" y="41148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704C"/>
                </a:solidFill>
              </a:rPr>
              <a:t>•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1248" y="4114800"/>
            <a:ext cx="3973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يقيس الانضباط — مسؤولية فريق التشغيل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" y="4956048"/>
            <a:ext cx="11055096" cy="1143000"/>
          </a:xfrm>
          <a:prstGeom prst="roundRect">
            <a:avLst>
              <a:gd name="adj" fmla="val 8000"/>
            </a:avLst>
          </a:prstGeom>
          <a:solidFill>
            <a:srgbClr val="1C1E4C"/>
          </a:solidFill>
          <a:ln/>
        </p:spPr>
      </p:sp>
      <p:sp>
        <p:nvSpPr>
          <p:cNvPr id="31" name="Text 29"/>
          <p:cNvSpPr/>
          <p:nvPr/>
        </p:nvSpPr>
        <p:spPr>
          <a:xfrm>
            <a:off x="886968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78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الفصل مهم؟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86968" y="5413248"/>
            <a:ext cx="10415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3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إذاعة قد تقدّم محتوى ممتازاً لكنها تخالف الجدول (علاجها ضبط تشغيلي)، وأخرى منضبطة تماماً بمحتوى ضعيف (علاجها تطوير تحريري). الرقم المدموج يخفي الحالتين ويقود لقرار خاطئ.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تُحتسب درجة الجودة؟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معادلة شفافة قابلة للضبط من الإعدادات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1055096" cy="1371600"/>
          </a:xfrm>
          <a:prstGeom prst="roundRect">
            <a:avLst>
              <a:gd name="adj" fmla="val 6667"/>
            </a:avLst>
          </a:prstGeom>
          <a:solidFill>
            <a:srgbClr val="1C1E4C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73736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 النهائية  =  (متوسط الفني × الوزن)  +  (متوسط المحتوى × الوزن)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32688" y="2286000"/>
            <a:ext cx="10323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الأوزان الافتراضية 50% / 50% — ويمكن للمدير تعديلها بما يناسب سياسة الجودة، بشرط أن يكون المجموع 100%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3200400"/>
            <a:ext cx="2558034" cy="2148840"/>
          </a:xfrm>
          <a:prstGeom prst="roundRect">
            <a:avLst>
              <a:gd name="adj" fmla="val 4255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5154" y="3429000"/>
            <a:ext cx="475488" cy="475488"/>
          </a:xfrm>
          <a:prstGeom prst="ellipse">
            <a:avLst/>
          </a:prstGeom>
          <a:solidFill>
            <a:srgbClr val="789A3D"/>
          </a:solidFill>
          <a:ln/>
        </p:spPr>
      </p:sp>
      <p:sp>
        <p:nvSpPr>
          <p:cNvPr id="9" name="Text 7"/>
          <p:cNvSpPr/>
          <p:nvPr/>
        </p:nvSpPr>
        <p:spPr>
          <a:xfrm>
            <a:off x="2375154" y="3429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" y="4041648"/>
            <a:ext cx="2155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تعيين المقيمين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8096" y="4443984"/>
            <a:ext cx="2155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 إنشاء الحلقة يُختار مقيّمون فنيون ومقيّمو محتوى (اختيار متعدد).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99282" y="3200400"/>
            <a:ext cx="2558034" cy="2148840"/>
          </a:xfrm>
          <a:prstGeom prst="roundRect">
            <a:avLst>
              <a:gd name="adj" fmla="val 4255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07508" y="3429000"/>
            <a:ext cx="475488" cy="475488"/>
          </a:xfrm>
          <a:prstGeom prst="ellipse">
            <a:avLst/>
          </a:prstGeom>
          <a:solidFill>
            <a:srgbClr val="789A3D"/>
          </a:solidFill>
          <a:ln/>
        </p:spPr>
      </p:sp>
      <p:sp>
        <p:nvSpPr>
          <p:cNvPr id="14" name="Text 12"/>
          <p:cNvSpPr/>
          <p:nvPr/>
        </p:nvSpPr>
        <p:spPr>
          <a:xfrm>
            <a:off x="5207508" y="3429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00450" y="4041648"/>
            <a:ext cx="2155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 بالمعايير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00450" y="4443984"/>
            <a:ext cx="2155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مقيّم يعطي درجة 1–10 لكل معيار، والنظام يحسب متوسطه تلقائياً.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31636" y="3200400"/>
            <a:ext cx="2558034" cy="2148840"/>
          </a:xfrm>
          <a:prstGeom prst="roundRect">
            <a:avLst>
              <a:gd name="adj" fmla="val 4255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39862" y="3429000"/>
            <a:ext cx="475488" cy="475488"/>
          </a:xfrm>
          <a:prstGeom prst="ellipse">
            <a:avLst/>
          </a:prstGeom>
          <a:solidFill>
            <a:srgbClr val="789A3D"/>
          </a:solidFill>
          <a:ln/>
        </p:spPr>
      </p:sp>
      <p:sp>
        <p:nvSpPr>
          <p:cNvPr id="19" name="Text 17"/>
          <p:cNvSpPr/>
          <p:nvPr/>
        </p:nvSpPr>
        <p:spPr>
          <a:xfrm>
            <a:off x="8039862" y="3429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٣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32804" y="4041648"/>
            <a:ext cx="2155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منع التكرار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32804" y="4443984"/>
            <a:ext cx="2155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قيد فريد في قاعدة البيانات يمنع تقييم الشخص نفسه للحلقة مرتين.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63990" y="3200400"/>
            <a:ext cx="2558034" cy="2148840"/>
          </a:xfrm>
          <a:prstGeom prst="roundRect">
            <a:avLst>
              <a:gd name="adj" fmla="val 4255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72216" y="3429000"/>
            <a:ext cx="475488" cy="475488"/>
          </a:xfrm>
          <a:prstGeom prst="ellipse">
            <a:avLst/>
          </a:prstGeom>
          <a:solidFill>
            <a:srgbClr val="789A3D"/>
          </a:solidFill>
          <a:ln/>
        </p:spPr>
      </p:sp>
      <p:sp>
        <p:nvSpPr>
          <p:cNvPr id="24" name="Text 22"/>
          <p:cNvSpPr/>
          <p:nvPr/>
        </p:nvSpPr>
        <p:spPr>
          <a:xfrm>
            <a:off x="10872216" y="3429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٤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65158" y="4041648"/>
            <a:ext cx="2155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 المرجّحة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65158" y="4443984"/>
            <a:ext cx="2155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تُجمع متوسطات كل الجانبين وتُرجَّح بالأوزان لتظهر النتيجة النهائية.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557784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ملاحظة: التقييم نهائي بعد الحفظ ولا يمكن تعديله — لضمان نزاهة السجل.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أربعة نماذج تقييم — لكل طبيعة برنامج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لأن البرنامج الحواري لا يُقاس بمعايير البرنامج المسجّل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571750" cy="3246120"/>
          </a:xfrm>
          <a:prstGeom prst="roundRect">
            <a:avLst>
              <a:gd name="adj" fmla="val 3556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572768"/>
            <a:ext cx="2571750" cy="566928"/>
          </a:xfrm>
          <a:prstGeom prst="roundRect">
            <a:avLst>
              <a:gd name="adj" fmla="val 16129"/>
            </a:avLst>
          </a:prstGeom>
          <a:solidFill>
            <a:srgbClr val="1C1E4C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572768"/>
            <a:ext cx="22974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القياسي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267712"/>
            <a:ext cx="2205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يناسب أغلب البرامج العامة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54630" y="279806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E4C"/>
                </a:solidFill>
              </a:rPr>
              <a:t>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798064"/>
            <a:ext cx="1949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الصوت ونقاء البث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54630" y="33649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E4C"/>
                </a:solidFill>
              </a:rPr>
              <a:t>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364992"/>
            <a:ext cx="1949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الالتزام بفكرة البرنامج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54630" y="39319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E4C"/>
                </a:solidFill>
              </a:rPr>
              <a:t>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3931920"/>
            <a:ext cx="1949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أداء المذيع وحضوره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94710" y="1572768"/>
            <a:ext cx="2571750" cy="3246120"/>
          </a:xfrm>
          <a:prstGeom prst="roundRect">
            <a:avLst>
              <a:gd name="adj" fmla="val 3556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4710" y="1572768"/>
            <a:ext cx="2571750" cy="566928"/>
          </a:xfrm>
          <a:prstGeom prst="roundRect">
            <a:avLst>
              <a:gd name="adj" fmla="val 16129"/>
            </a:avLst>
          </a:prstGeom>
          <a:solidFill>
            <a:srgbClr val="47704C"/>
          </a:solidFill>
          <a:ln/>
        </p:spPr>
      </p:sp>
      <p:sp>
        <p:nvSpPr>
          <p:cNvPr id="16" name="Text 14"/>
          <p:cNvSpPr/>
          <p:nvPr/>
        </p:nvSpPr>
        <p:spPr>
          <a:xfrm>
            <a:off x="3531870" y="1572768"/>
            <a:ext cx="22974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حواري (مع ضيوف)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77590" y="2267712"/>
            <a:ext cx="2205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حلقات تعتمد على ضيف أو أكثر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582412" y="279806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704C"/>
                </a:solidFill>
              </a:rPr>
              <a:t>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77590" y="2798064"/>
            <a:ext cx="1949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قيمة الضيف وملاءمته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582412" y="33649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704C"/>
                </a:solidFill>
              </a:rPr>
              <a:t>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77590" y="3364992"/>
            <a:ext cx="1949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الحوار وتوزيع الوقت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582412" y="39319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704C"/>
                </a:solidFill>
              </a:rPr>
              <a:t>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77590" y="3931920"/>
            <a:ext cx="1949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عمق الأسئلة وتسلسلها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22492" y="1572768"/>
            <a:ext cx="2571750" cy="3246120"/>
          </a:xfrm>
          <a:prstGeom prst="roundRect">
            <a:avLst>
              <a:gd name="adj" fmla="val 3556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2492" y="1572768"/>
            <a:ext cx="2571750" cy="566928"/>
          </a:xfrm>
          <a:prstGeom prst="roundRect">
            <a:avLst>
              <a:gd name="adj" fmla="val 16129"/>
            </a:avLst>
          </a:prstGeom>
          <a:solidFill>
            <a:srgbClr val="C99A2E"/>
          </a:solidFill>
          <a:ln/>
        </p:spPr>
      </p:sp>
      <p:sp>
        <p:nvSpPr>
          <p:cNvPr id="26" name="Text 24"/>
          <p:cNvSpPr/>
          <p:nvPr/>
        </p:nvSpPr>
        <p:spPr>
          <a:xfrm>
            <a:off x="6359652" y="1572768"/>
            <a:ext cx="22974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بث مباشر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5372" y="2267712"/>
            <a:ext cx="2205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برامج على الهواء مباشرة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10194" y="279806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9A2E"/>
                </a:solidFill>
              </a:rPr>
              <a:t>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5372" y="2798064"/>
            <a:ext cx="1949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الارتجال وإدارة اللحظة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410194" y="33649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9A2E"/>
                </a:solidFill>
              </a:rPr>
              <a:t>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5372" y="3364992"/>
            <a:ext cx="1949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التفاعل مع المداخلات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410194" y="39319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9A2E"/>
                </a:solidFill>
              </a:rPr>
              <a:t>—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5372" y="3931920"/>
            <a:ext cx="1949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دقة المعلومة اللحظية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050274" y="1572768"/>
            <a:ext cx="2571750" cy="3246120"/>
          </a:xfrm>
          <a:prstGeom prst="roundRect">
            <a:avLst>
              <a:gd name="adj" fmla="val 3556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0274" y="1572768"/>
            <a:ext cx="2571750" cy="566928"/>
          </a:xfrm>
          <a:prstGeom prst="roundRect">
            <a:avLst>
              <a:gd name="adj" fmla="val 16129"/>
            </a:avLst>
          </a:prstGeom>
          <a:solidFill>
            <a:srgbClr val="6D4C8C"/>
          </a:solidFill>
          <a:ln/>
        </p:spPr>
      </p:sp>
      <p:sp>
        <p:nvSpPr>
          <p:cNvPr id="36" name="Text 34"/>
          <p:cNvSpPr/>
          <p:nvPr/>
        </p:nvSpPr>
        <p:spPr>
          <a:xfrm>
            <a:off x="9187434" y="1572768"/>
            <a:ext cx="22974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مسجّل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233154" y="2267712"/>
            <a:ext cx="2205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محتوى منتج مسبقاً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237976" y="279806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4C8C"/>
                </a:solidFill>
              </a:rPr>
              <a:t>—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233154" y="2798064"/>
            <a:ext cx="1949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المونتاج والانتقالات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237976" y="33649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4C8C"/>
                </a:solidFill>
              </a:rPr>
              <a:t>—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233154" y="3364992"/>
            <a:ext cx="1949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الهندسة الصوتية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237976" y="39319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4C8C"/>
                </a:solidFill>
              </a:rPr>
              <a:t>—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233154" y="3931920"/>
            <a:ext cx="1949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السرد والإيقاع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66928" y="5010912"/>
            <a:ext cx="11055096" cy="105156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872216" y="5230368"/>
            <a:ext cx="512064" cy="512064"/>
          </a:xfrm>
          <a:prstGeom prst="ellipse">
            <a:avLst/>
          </a:prstGeom>
          <a:solidFill>
            <a:srgbClr val="1C1E4C"/>
          </a:solidFill>
          <a:ln/>
        </p:spPr>
      </p:sp>
      <p:sp>
        <p:nvSpPr>
          <p:cNvPr id="46" name="Text 44"/>
          <p:cNvSpPr/>
          <p:nvPr/>
        </p:nvSpPr>
        <p:spPr>
          <a:xfrm>
            <a:off x="10872216" y="5230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41248" y="5138928"/>
            <a:ext cx="9774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مرن بالكامل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41248" y="5458968"/>
            <a:ext cx="9774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يُختار النموذج على مستوى البرنامج (افتراضي) أو الحلقة (تجاوز)، ويمكن للمدير إنشاء نماذج جديدة كلياً بمعاييرها الخاصة من شاشة الإعدادات.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شاشة التزام البث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الوقت في الصفوف والإذاعات في الأعمدة — الحالة تُقرأ بلمحة</a:t>
            </a:r>
            <a:endParaRPr lang="en-US" sz="1400" dirty="0"/>
          </a:p>
        </p:txBody>
      </p:sp>
      <p:pic>
        <p:nvPicPr>
          <p:cNvPr id="4" name="Image 0" descr="/private/tmp/claude-501/-Users-badrshfaqah-project-sba-quality/73fcc3c9-8a0a-4632-a3f1-18bfd2c4ae31/scratchpad/deck/compli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7498080" cy="41788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119104" y="1572768"/>
            <a:ext cx="457200" cy="457200"/>
          </a:xfrm>
          <a:prstGeom prst="ellipse">
            <a:avLst/>
          </a:prstGeom>
          <a:solidFill>
            <a:srgbClr val="789A3D"/>
          </a:solidFill>
          <a:ln/>
        </p:spPr>
      </p:sp>
      <p:sp>
        <p:nvSpPr>
          <p:cNvPr id="6" name="Text 3"/>
          <p:cNvSpPr/>
          <p:nvPr/>
        </p:nvSpPr>
        <p:spPr>
          <a:xfrm>
            <a:off x="11119104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412480" y="1591056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أخضر / أحمر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0" y="1975104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ملتزم أو غير ملتزم عند كل نقطة زمنية — بلا تأويل.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1119104" y="2990088"/>
            <a:ext cx="457200" cy="457200"/>
          </a:xfrm>
          <a:prstGeom prst="ellipse">
            <a:avLst/>
          </a:prstGeom>
          <a:solidFill>
            <a:srgbClr val="1C1E4C"/>
          </a:solidFill>
          <a:ln/>
        </p:spPr>
      </p:sp>
      <p:sp>
        <p:nvSpPr>
          <p:cNvPr id="10" name="Text 7"/>
          <p:cNvSpPr/>
          <p:nvPr/>
        </p:nvSpPr>
        <p:spPr>
          <a:xfrm>
            <a:off x="11119104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12480" y="3008376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سريع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12480" y="3392424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واحد بكل الإذاعات: اختر التاريخ والوقت وسجّل الحالات دفعة واحدة.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1119104" y="4407408"/>
            <a:ext cx="457200" cy="45720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4" name="Text 11"/>
          <p:cNvSpPr/>
          <p:nvPr/>
        </p:nvSpPr>
        <p:spPr>
          <a:xfrm>
            <a:off x="11119104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↥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412480" y="4425696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استيراد Excel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412480" y="4809744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عمود وقت وأعمدة إذاعات — تحويل تلقائي مع تجاهل الفارغ ومنع التكرار.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412480" y="5138928"/>
            <a:ext cx="3209544" cy="566928"/>
          </a:xfrm>
          <a:prstGeom prst="roundRect">
            <a:avLst>
              <a:gd name="adj" fmla="val 12903"/>
            </a:avLst>
          </a:prstGeom>
          <a:solidFill>
            <a:srgbClr val="1C1E4C"/>
          </a:solidFill>
          <a:ln/>
        </p:spPr>
      </p:sp>
      <p:sp>
        <p:nvSpPr>
          <p:cNvPr id="18" name="Text 15"/>
          <p:cNvSpPr/>
          <p:nvPr/>
        </p:nvSpPr>
        <p:spPr>
          <a:xfrm>
            <a:off x="8595360" y="5138928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خياران للاستيراد: إضافة أو استبدال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ذكاء الأعمال: رؤى تُكتب تلقائياً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النظام لا يعرض أرقاماً فحسب — بل يقرأها ويخبرك بما تعنيه</a:t>
            </a:r>
            <a:endParaRPr lang="en-US" sz="1400" dirty="0"/>
          </a:p>
        </p:txBody>
      </p:sp>
      <p:pic>
        <p:nvPicPr>
          <p:cNvPr id="4" name="Image 0" descr="/private/tmp/claude-501/-Users-badrshfaqah-project-sba-quality/73fcc3c9-8a0a-4632-a3f1-18bfd2c4ae31/scratchpad/deck/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463040"/>
            <a:ext cx="7461504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572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أمثلة حقيقية من التشغيل: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2011680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5875">
            <a:solidFill>
              <a:srgbClr val="B23A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011680"/>
            <a:ext cx="3054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النقطة الزمنية 21:00 هي الأضعف التزاماً (65.7%)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66928" y="2907792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5875">
            <a:solidFill>
              <a:srgbClr val="B23A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907792"/>
            <a:ext cx="3054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إذاعات في ربع التدخل العاجل: الإذاعة الإنجليزية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3803904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5875">
            <a:solidFill>
              <a:srgbClr val="C99A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803904"/>
            <a:ext cx="3054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مهمة تقييم متأخرة أكثر من 3 أيام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4700016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5875">
            <a:solidFill>
              <a:srgbClr val="789A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4700016"/>
            <a:ext cx="3054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إذاعة القرآن الكريم تتصدر المؤشر المركب (93.5)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66928" y="56235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تكشف أيضاً: تراجع/تحسن كل إذاعة مقارنةً بالفترة السابقة، والفجوة بين الفني والمحتوى (هل المشكلة هندسية أم تحريرية؟).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التحليل الرباعي: الجودة × الالتزام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إذاعة تقع في ربع — ولكل ربع علاج مختلف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5372100" cy="1755648"/>
          </a:xfrm>
          <a:prstGeom prst="roundRect">
            <a:avLst>
              <a:gd name="adj" fmla="val 5208"/>
            </a:avLst>
          </a:prstGeom>
          <a:solidFill>
            <a:srgbClr val="EDF4E6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07508" y="1773936"/>
            <a:ext cx="512064" cy="512064"/>
          </a:xfrm>
          <a:prstGeom prst="ellipse">
            <a:avLst/>
          </a:prstGeom>
          <a:solidFill>
            <a:srgbClr val="47704C"/>
          </a:solidFill>
          <a:ln/>
        </p:spPr>
      </p:sp>
      <p:sp>
        <p:nvSpPr>
          <p:cNvPr id="6" name="Text 4"/>
          <p:cNvSpPr/>
          <p:nvPr/>
        </p:nvSpPr>
        <p:spPr>
          <a:xfrm>
            <a:off x="5207508" y="1773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773936"/>
            <a:ext cx="4229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77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النجوم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176272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عالية + التزام عالٍ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48600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الحفاظ على المستوى وتعميم التجربة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49924" y="1536192"/>
            <a:ext cx="5372100" cy="1755648"/>
          </a:xfrm>
          <a:prstGeom prst="roundRect">
            <a:avLst>
              <a:gd name="adj" fmla="val 5208"/>
            </a:avLst>
          </a:prstGeom>
          <a:solidFill>
            <a:srgbClr val="EAF0FB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90504" y="1773936"/>
            <a:ext cx="512064" cy="512064"/>
          </a:xfrm>
          <a:prstGeom prst="ellipse">
            <a:avLst/>
          </a:prstGeom>
          <a:solidFill>
            <a:srgbClr val="1C1E4C"/>
          </a:solidFill>
          <a:ln/>
        </p:spPr>
      </p:sp>
      <p:sp>
        <p:nvSpPr>
          <p:cNvPr id="12" name="Text 10"/>
          <p:cNvSpPr/>
          <p:nvPr/>
        </p:nvSpPr>
        <p:spPr>
          <a:xfrm>
            <a:off x="10890504" y="1773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05956" y="1773936"/>
            <a:ext cx="4229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إبداع بلا انضباط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05956" y="2176272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عالية + التزام منخفض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05956" y="2560320"/>
            <a:ext cx="48600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المعالجة: ضبط تشغيلي وجداول بث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547872"/>
            <a:ext cx="5372100" cy="1755648"/>
          </a:xfrm>
          <a:prstGeom prst="roundRect">
            <a:avLst>
              <a:gd name="adj" fmla="val 5208"/>
            </a:avLst>
          </a:prstGeom>
          <a:solidFill>
            <a:srgbClr val="FBF3E0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07508" y="3785616"/>
            <a:ext cx="512064" cy="512064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8" name="Text 16"/>
          <p:cNvSpPr/>
          <p:nvPr/>
        </p:nvSpPr>
        <p:spPr>
          <a:xfrm>
            <a:off x="5207508" y="3785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◑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3785616"/>
            <a:ext cx="4229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C9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انضباط بلا جودة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4187952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منخفضة + التزام عالٍ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4572000"/>
            <a:ext cx="48600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المعالجة: تطوير محتوى وتدريب مقدمين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49924" y="3547872"/>
            <a:ext cx="5372100" cy="1755648"/>
          </a:xfrm>
          <a:prstGeom prst="roundRect">
            <a:avLst>
              <a:gd name="adj" fmla="val 5208"/>
            </a:avLst>
          </a:prstGeom>
          <a:solidFill>
            <a:srgbClr val="FAEAE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90504" y="3785616"/>
            <a:ext cx="512064" cy="512064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24" name="Text 22"/>
          <p:cNvSpPr/>
          <p:nvPr/>
        </p:nvSpPr>
        <p:spPr>
          <a:xfrm>
            <a:off x="10890504" y="3785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05956" y="3785616"/>
            <a:ext cx="4229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B2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تدخل عاجل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05956" y="4187952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منخفضة + التزام منخفض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05956" y="4572000"/>
            <a:ext cx="48600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المعالجة: خطة إنقاذ شاملة وفورية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541324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العتبات قابلة للقراءة مباشرة: جودة ≥ 7 من 10، والتزام ≥ 80% — والإذاعات التي تنقصها بيانات أحد البعدين تُستبعد من الترتيب حفاظاً على عدالة المقارنة.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مؤشر الأداء المركب (SPI)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 واحد يلخّص أداء الإذاعة: جودة 60% + التزام 40%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6949440" cy="3950208"/>
          </a:xfrm>
          <a:prstGeom prst="roundRect">
            <a:avLst>
              <a:gd name="adj" fmla="val 2315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17720" y="2048256"/>
            <a:ext cx="7315" cy="3419856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6" name="Text 4"/>
          <p:cNvSpPr/>
          <p:nvPr/>
        </p:nvSpPr>
        <p:spPr>
          <a:xfrm>
            <a:off x="4416552" y="173736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78174" y="2048256"/>
            <a:ext cx="7315" cy="3419856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8" name="Text 6"/>
          <p:cNvSpPr/>
          <p:nvPr/>
        </p:nvSpPr>
        <p:spPr>
          <a:xfrm>
            <a:off x="3477006" y="173736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38628" y="2048256"/>
            <a:ext cx="7315" cy="3419856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10" name="Text 8"/>
          <p:cNvSpPr/>
          <p:nvPr/>
        </p:nvSpPr>
        <p:spPr>
          <a:xfrm>
            <a:off x="2537460" y="173736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99082" y="2048256"/>
            <a:ext cx="7315" cy="3419856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12" name="Text 10"/>
          <p:cNvSpPr/>
          <p:nvPr/>
        </p:nvSpPr>
        <p:spPr>
          <a:xfrm>
            <a:off x="1597914" y="173736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59536" y="2048256"/>
            <a:ext cx="7315" cy="3419856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73736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85816" y="212140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إذاعة القرآن الكريم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9536" y="2139696"/>
            <a:ext cx="3758184" cy="384048"/>
          </a:xfrm>
          <a:prstGeom prst="roundRect">
            <a:avLst>
              <a:gd name="adj" fmla="val 14286"/>
            </a:avLst>
          </a:prstGeom>
          <a:solidFill>
            <a:srgbClr val="ECEFF6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3818" y="2139696"/>
            <a:ext cx="3513902" cy="384048"/>
          </a:xfrm>
          <a:prstGeom prst="roundRect">
            <a:avLst>
              <a:gd name="adj" fmla="val 14286"/>
            </a:avLst>
          </a:prstGeom>
          <a:solidFill>
            <a:srgbClr val="47704C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" y="2139696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7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85816" y="283464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إذاعة الرياض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9536" y="2852928"/>
            <a:ext cx="3758184" cy="384048"/>
          </a:xfrm>
          <a:prstGeom prst="roundRect">
            <a:avLst>
              <a:gd name="adj" fmla="val 14286"/>
            </a:avLst>
          </a:prstGeom>
          <a:solidFill>
            <a:srgbClr val="ECEFF6"/>
          </a:solidFill>
          <a:ln/>
        </p:spPr>
      </p:sp>
      <p:sp>
        <p:nvSpPr>
          <p:cNvPr id="21" name="Shape 19"/>
          <p:cNvSpPr/>
          <p:nvPr/>
        </p:nvSpPr>
        <p:spPr>
          <a:xfrm>
            <a:off x="1678820" y="2852928"/>
            <a:ext cx="2938900" cy="384048"/>
          </a:xfrm>
          <a:prstGeom prst="roundRect">
            <a:avLst>
              <a:gd name="adj" fmla="val 14286"/>
            </a:avLst>
          </a:prstGeom>
          <a:solidFill>
            <a:srgbClr val="1C1E4C"/>
          </a:solidFill>
          <a:ln/>
        </p:spPr>
      </p:sp>
      <p:sp>
        <p:nvSpPr>
          <p:cNvPr id="22" name="Text 20"/>
          <p:cNvSpPr/>
          <p:nvPr/>
        </p:nvSpPr>
        <p:spPr>
          <a:xfrm>
            <a:off x="146304" y="285292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85816" y="354787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إذاعة نداء الإسلام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9536" y="3566160"/>
            <a:ext cx="3758184" cy="384048"/>
          </a:xfrm>
          <a:prstGeom prst="roundRect">
            <a:avLst>
              <a:gd name="adj" fmla="val 14286"/>
            </a:avLst>
          </a:prstGeom>
          <a:solidFill>
            <a:srgbClr val="ECEFF6"/>
          </a:solidFill>
          <a:ln/>
        </p:spPr>
      </p:sp>
      <p:sp>
        <p:nvSpPr>
          <p:cNvPr id="25" name="Shape 23"/>
          <p:cNvSpPr/>
          <p:nvPr/>
        </p:nvSpPr>
        <p:spPr>
          <a:xfrm>
            <a:off x="1915586" y="3566160"/>
            <a:ext cx="2702134" cy="384048"/>
          </a:xfrm>
          <a:prstGeom prst="roundRect">
            <a:avLst>
              <a:gd name="adj" fmla="val 14286"/>
            </a:avLst>
          </a:prstGeom>
          <a:solidFill>
            <a:srgbClr val="1C1E4C"/>
          </a:solidFill>
          <a:ln/>
        </p:spPr>
      </p:sp>
      <p:sp>
        <p:nvSpPr>
          <p:cNvPr id="26" name="Text 24"/>
          <p:cNvSpPr/>
          <p:nvPr/>
        </p:nvSpPr>
        <p:spPr>
          <a:xfrm>
            <a:off x="146304" y="35661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71.9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85816" y="426110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إذاعة جدة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9536" y="4279392"/>
            <a:ext cx="3758184" cy="384048"/>
          </a:xfrm>
          <a:prstGeom prst="roundRect">
            <a:avLst>
              <a:gd name="adj" fmla="val 14286"/>
            </a:avLst>
          </a:prstGeom>
          <a:solidFill>
            <a:srgbClr val="ECEFF6"/>
          </a:solidFill>
          <a:ln/>
        </p:spPr>
      </p:sp>
      <p:sp>
        <p:nvSpPr>
          <p:cNvPr id="29" name="Shape 27"/>
          <p:cNvSpPr/>
          <p:nvPr/>
        </p:nvSpPr>
        <p:spPr>
          <a:xfrm>
            <a:off x="1960684" y="4279392"/>
            <a:ext cx="2657036" cy="384048"/>
          </a:xfrm>
          <a:prstGeom prst="roundRect">
            <a:avLst>
              <a:gd name="adj" fmla="val 14286"/>
            </a:avLst>
          </a:prstGeom>
          <a:solidFill>
            <a:srgbClr val="1C1E4C"/>
          </a:solidFill>
          <a:ln/>
        </p:spPr>
      </p:sp>
      <p:sp>
        <p:nvSpPr>
          <p:cNvPr id="30" name="Text 28"/>
          <p:cNvSpPr/>
          <p:nvPr/>
        </p:nvSpPr>
        <p:spPr>
          <a:xfrm>
            <a:off x="146304" y="427939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85816" y="4974336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الإذاعة الإنجليزية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9536" y="4992624"/>
            <a:ext cx="3758184" cy="384048"/>
          </a:xfrm>
          <a:prstGeom prst="roundRect">
            <a:avLst>
              <a:gd name="adj" fmla="val 14286"/>
            </a:avLst>
          </a:prstGeom>
          <a:solidFill>
            <a:srgbClr val="ECEFF6"/>
          </a:solidFill>
          <a:ln/>
        </p:spPr>
      </p:sp>
      <p:sp>
        <p:nvSpPr>
          <p:cNvPr id="33" name="Shape 31"/>
          <p:cNvSpPr/>
          <p:nvPr/>
        </p:nvSpPr>
        <p:spPr>
          <a:xfrm>
            <a:off x="2768693" y="4992624"/>
            <a:ext cx="1849027" cy="384048"/>
          </a:xfrm>
          <a:prstGeom prst="roundRect">
            <a:avLst>
              <a:gd name="adj" fmla="val 14286"/>
            </a:avLst>
          </a:prstGeom>
          <a:solidFill>
            <a:srgbClr val="B23A3A"/>
          </a:solidFill>
          <a:ln/>
        </p:spPr>
      </p:sp>
      <p:sp>
        <p:nvSpPr>
          <p:cNvPr id="34" name="Text 32"/>
          <p:cNvSpPr/>
          <p:nvPr/>
        </p:nvSpPr>
        <p:spPr>
          <a:xfrm>
            <a:off x="146304" y="499262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6928" y="561441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المؤشر من 100 — بيانات تشغيل حقيقية داخل النظام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836408" y="1536192"/>
            <a:ext cx="3785616" cy="1691640"/>
          </a:xfrm>
          <a:prstGeom prst="roundRect">
            <a:avLst>
              <a:gd name="adj" fmla="val 5405"/>
            </a:avLst>
          </a:prstGeom>
          <a:solidFill>
            <a:srgbClr val="1C1E4C"/>
          </a:solidFill>
          <a:ln/>
        </p:spPr>
      </p:sp>
      <p:sp>
        <p:nvSpPr>
          <p:cNvPr id="37" name="Text 35"/>
          <p:cNvSpPr/>
          <p:nvPr/>
        </p:nvSpPr>
        <p:spPr>
          <a:xfrm>
            <a:off x="8065008" y="1691640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78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مؤشر مركب؟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065008" y="2029968"/>
            <a:ext cx="33284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3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للإدارة العليا التي تحتاج ترتيباً واحداً سريعاً — مع بقاء البعدين منفصلين في الشاشات التفصيلية لمن يريد التشخيص الدقيق.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836408" y="3364992"/>
            <a:ext cx="3785616" cy="2194560"/>
          </a:xfrm>
          <a:prstGeom prst="roundRect">
            <a:avLst>
              <a:gd name="adj" fmla="val 4167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65008" y="3520440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 كل مؤشر: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237976" y="39136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89A3D"/>
                </a:solidFill>
              </a:rPr>
              <a:t>•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065008" y="3913632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سهم اتجاه ▲▼ يقارن بالفترة السابقة المكافئة تلقائياً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237976" y="44622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89A3D"/>
                </a:solidFill>
              </a:rPr>
              <a:t>•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065008" y="4462272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شريط تقدم ملوّن يوضح الموقع من 100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237976" y="50109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89A3D"/>
                </a:solidFill>
              </a:rPr>
              <a:t>•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065008" y="5010912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ميداليات للمراكز الثلاثة الأولى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تحليلية متقدمة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لا تكشفه الجداول العادية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59068" y="1536192"/>
            <a:ext cx="5362956" cy="4160520"/>
          </a:xfrm>
          <a:prstGeom prst="roundRect">
            <a:avLst>
              <a:gd name="adj" fmla="val 2198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72216" y="1773936"/>
            <a:ext cx="512064" cy="512064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6" name="Text 4"/>
          <p:cNvSpPr/>
          <p:nvPr/>
        </p:nvSpPr>
        <p:spPr>
          <a:xfrm>
            <a:off x="10872216" y="1773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33388" y="1792224"/>
            <a:ext cx="417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الخرائط الحرارية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33388" y="2231136"/>
            <a:ext cx="4485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تدرّج أحمر: كلما اشتدّت الحمرة اشتدّ الخلل — بؤر المشاكل تقفز للعين فوراً.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769096" y="288036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DF3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08008" y="288036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8D7D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6920" y="288036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0AE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85832" y="288036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DF3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24744" y="288036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8D7D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63656" y="288036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DF3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69096" y="331927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8D7D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08008" y="331927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DF3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46920" y="331927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57F7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85832" y="331927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8D7D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24744" y="331927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DF3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63656" y="331927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0AE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69096" y="37581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DF3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08008" y="37581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0AE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46920" y="37581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B230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85832" y="37581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D34F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24744" y="37581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8D7D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63656" y="37581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DF3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69096" y="419709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8D7D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08008" y="419709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DF3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46920" y="419709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D34F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85832" y="419709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57F7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24744" y="419709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DF3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63656" y="419709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8D7D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3388" y="4709160"/>
            <a:ext cx="4485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مثال: خلل متكرر عند نقطة زمنية بعينها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33388" y="4956048"/>
            <a:ext cx="44851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خريطتان: (النقطة الزمنية × اليوم) لكشف الأوقات الضعيفة المتكررة، و(الإذاعات × الأوقات) لمعرفة من يضعف ومتى.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66928" y="1536192"/>
            <a:ext cx="5362956" cy="4160520"/>
          </a:xfrm>
          <a:prstGeom prst="roundRect">
            <a:avLst>
              <a:gd name="adj" fmla="val 2198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80076" y="1773936"/>
            <a:ext cx="512064" cy="512064"/>
          </a:xfrm>
          <a:prstGeom prst="ellipse">
            <a:avLst/>
          </a:prstGeom>
          <a:solidFill>
            <a:srgbClr val="47704C"/>
          </a:solidFill>
          <a:ln/>
        </p:spPr>
      </p:sp>
      <p:sp>
        <p:nvSpPr>
          <p:cNvPr id="37" name="Text 35"/>
          <p:cNvSpPr/>
          <p:nvPr/>
        </p:nvSpPr>
        <p:spPr>
          <a:xfrm>
            <a:off x="5180076" y="1773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41248" y="1792224"/>
            <a:ext cx="417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عدالة التقييم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841248" y="2231136"/>
            <a:ext cx="4814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يقارن كل مقيّم بزملائه على الحلقات المشتركة نفسها — لكشف التساهل أو التشدد المنهجي.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41248" y="2880360"/>
            <a:ext cx="4814316" cy="347472"/>
          </a:xfrm>
          <a:prstGeom prst="rect">
            <a:avLst/>
          </a:prstGeom>
          <a:solidFill>
            <a:srgbClr val="1C1E4C"/>
          </a:solidFill>
          <a:ln/>
        </p:spPr>
      </p:sp>
      <p:sp>
        <p:nvSpPr>
          <p:cNvPr id="41" name="Text 39"/>
          <p:cNvSpPr/>
          <p:nvPr/>
        </p:nvSpPr>
        <p:spPr>
          <a:xfrm>
            <a:off x="841248" y="2880360"/>
            <a:ext cx="16047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القراءة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446020" y="2880360"/>
            <a:ext cx="16047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الانحراف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050792" y="2880360"/>
            <a:ext cx="16047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المقيّم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41248" y="3227832"/>
            <a:ext cx="4814316" cy="38404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5" name="Text 43"/>
          <p:cNvSpPr/>
          <p:nvPr/>
        </p:nvSpPr>
        <p:spPr>
          <a:xfrm>
            <a:off x="841248" y="3227832"/>
            <a:ext cx="1604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78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متوازن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446020" y="3227832"/>
            <a:ext cx="1604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+0.47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050792" y="3227832"/>
            <a:ext cx="1604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عبدالله الشمري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41248" y="3611880"/>
            <a:ext cx="1604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78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متوازن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2446020" y="3611880"/>
            <a:ext cx="1604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−0.43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050792" y="3611880"/>
            <a:ext cx="1604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ريم الدوسري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41248" y="3995928"/>
            <a:ext cx="4814316" cy="38404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52" name="Text 50"/>
          <p:cNvSpPr/>
          <p:nvPr/>
        </p:nvSpPr>
        <p:spPr>
          <a:xfrm>
            <a:off x="841248" y="3995928"/>
            <a:ext cx="1604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C9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متساهل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2446020" y="3995928"/>
            <a:ext cx="1604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+1.20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050792" y="3995928"/>
            <a:ext cx="1604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مقيّم (مثال)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41248" y="4379976"/>
            <a:ext cx="1604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B2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متشدد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2446020" y="4379976"/>
            <a:ext cx="1604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−1.35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050792" y="4379976"/>
            <a:ext cx="1604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مقيّم (مثال)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41248" y="4956048"/>
            <a:ext cx="48143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نادرة حتى في الأنظمة التجارية — تحمي المقيَّمين من ظلم مقيّم متشدد، وتحمي المنصة من تضخيم درجات متساهل.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التقارير: فترات ومقارنات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أربعة تقارير جاهزة للطباعة مع فلترة زمنية كاملة</a:t>
            </a:r>
            <a:endParaRPr lang="en-US" sz="1400" dirty="0"/>
          </a:p>
        </p:txBody>
      </p:sp>
      <p:pic>
        <p:nvPicPr>
          <p:cNvPr id="4" name="Image 0" descr="/private/tmp/claude-501/-Users-badrshfaqah-project-sba-quality/73fcc3c9-8a0a-4632-a3f1-18bfd2c4ae31/scratchpad/deck/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694944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36408" y="1536192"/>
            <a:ext cx="3785616" cy="960120"/>
          </a:xfrm>
          <a:prstGeom prst="roundRect">
            <a:avLst>
              <a:gd name="adj" fmla="val 9524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37576" y="1645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البرنامج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37576" y="195681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حلقاته بدرجاتها الفنية والمحتوى والنهائية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836408" y="2615184"/>
            <a:ext cx="3785616" cy="960120"/>
          </a:xfrm>
          <a:prstGeom prst="roundRect">
            <a:avLst>
              <a:gd name="adj" fmla="val 9524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37576" y="27249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الالتزام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37576" y="303580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يومي/أسبوعي/شهري + مقارنة فترتين + تفكيك بالنقاط الزمنية وأيام الأسبوع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36408" y="3694176"/>
            <a:ext cx="3785616" cy="960120"/>
          </a:xfrm>
          <a:prstGeom prst="roundRect">
            <a:avLst>
              <a:gd name="adj" fmla="val 9524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37576" y="38039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الإذاعات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37576" y="411480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شامل بكل المؤشرات مرتباً بالمؤشر المركب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836408" y="4773168"/>
            <a:ext cx="3785616" cy="960120"/>
          </a:xfrm>
          <a:prstGeom prst="roundRect">
            <a:avLst>
              <a:gd name="adj" fmla="val 9524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37576" y="48828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المقيمين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037576" y="519379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العدد، الأعلى والأقل، المتوسط، وسرعة الإنجاز والمتأخرات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 ومتابعة الإنجاز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مدير الجودة يوزّع، والنظام يتابع ويحاسب تلقائياً</a:t>
            </a:r>
            <a:endParaRPr lang="en-US" sz="1400" dirty="0"/>
          </a:p>
        </p:txBody>
      </p:sp>
      <p:pic>
        <p:nvPicPr>
          <p:cNvPr id="4" name="Image 0" descr="/private/tmp/claude-501/-Users-badrshfaqah-project-sba-quality/73fcc3c9-8a0a-4632-a3f1-18bfd2c4ae31/scratchpad/deck/follow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481328"/>
            <a:ext cx="758952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10128" y="1572768"/>
            <a:ext cx="457200" cy="457200"/>
          </a:xfrm>
          <a:prstGeom prst="ellipse">
            <a:avLst/>
          </a:prstGeom>
          <a:solidFill>
            <a:srgbClr val="1C1E4C"/>
          </a:solidFill>
          <a:ln/>
        </p:spPr>
      </p:sp>
      <p:sp>
        <p:nvSpPr>
          <p:cNvPr id="6" name="Text 3"/>
          <p:cNvSpPr/>
          <p:nvPr/>
        </p:nvSpPr>
        <p:spPr>
          <a:xfrm>
            <a:off x="3310128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159105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للموظف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1975104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مهامي: منفذة وغير منفذة، مع شارات تأخير ملوّنة وترتيب بالأولوية — والأقدم أولاً.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10128" y="3054096"/>
            <a:ext cx="457200" cy="457200"/>
          </a:xfrm>
          <a:prstGeom prst="ellipse">
            <a:avLst/>
          </a:prstGeom>
          <a:solidFill>
            <a:srgbClr val="47704C"/>
          </a:solidFill>
          <a:ln/>
        </p:spPr>
      </p:sp>
      <p:sp>
        <p:nvSpPr>
          <p:cNvPr id="10" name="Text 7"/>
          <p:cNvSpPr/>
          <p:nvPr/>
        </p:nvSpPr>
        <p:spPr>
          <a:xfrm>
            <a:off x="3310128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66928" y="30723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لمدير الجودة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6928" y="345643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إنجاز كل موظف بشريط تقدم، والمهام المعلقة والمنجزة، وآخر نشاط.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310128" y="4535424"/>
            <a:ext cx="457200" cy="45720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4" name="Text 11"/>
          <p:cNvSpPr/>
          <p:nvPr/>
        </p:nvSpPr>
        <p:spPr>
          <a:xfrm>
            <a:off x="3310128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◷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66928" y="45537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المتأخرات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66928" y="4937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الحلقات التي بُثت ولم تُقيَّم بعد، بعدّاد أيام تصاعدي.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585216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C1E4C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585216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 فوري عند إسناد أي مهمة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 عضويات — كلٌ يرى ما يخصه فقط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عزل بيانات صارم مفروض على مستوى الاستعلام لا الواجهة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2571750" cy="3108960"/>
          </a:xfrm>
          <a:prstGeom prst="roundRect">
            <a:avLst>
              <a:gd name="adj" fmla="val 3556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554480"/>
            <a:ext cx="2571750" cy="777240"/>
          </a:xfrm>
          <a:prstGeom prst="roundRect">
            <a:avLst>
              <a:gd name="adj" fmla="val 11765"/>
            </a:avLst>
          </a:prstGeom>
          <a:solidFill>
            <a:srgbClr val="1C1E4C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664208"/>
            <a:ext cx="23522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مدير النظام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76656" y="1975104"/>
            <a:ext cx="2352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صلاحيات كاملة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18638" y="248716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E4C"/>
                </a:solidFill>
              </a:rPr>
              <a:t>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487168"/>
            <a:ext cx="20413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المستخدمين والإعدادات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18638" y="314553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E4C"/>
                </a:solidFill>
              </a:rPr>
              <a:t>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145536"/>
            <a:ext cx="20413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العمليات والنسخ الاحتياطي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818638" y="380390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E4C"/>
                </a:solidFill>
              </a:rPr>
              <a:t>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803904"/>
            <a:ext cx="20413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التحديث والدخول بالنيابة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94710" y="1554480"/>
            <a:ext cx="2571750" cy="3108960"/>
          </a:xfrm>
          <a:prstGeom prst="roundRect">
            <a:avLst>
              <a:gd name="adj" fmla="val 3556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4710" y="1554480"/>
            <a:ext cx="2571750" cy="777240"/>
          </a:xfrm>
          <a:prstGeom prst="roundRect">
            <a:avLst>
              <a:gd name="adj" fmla="val 11765"/>
            </a:avLst>
          </a:prstGeom>
          <a:solidFill>
            <a:srgbClr val="47704C"/>
          </a:solidFill>
          <a:ln/>
        </p:spPr>
      </p:sp>
      <p:sp>
        <p:nvSpPr>
          <p:cNvPr id="16" name="Text 14"/>
          <p:cNvSpPr/>
          <p:nvPr/>
        </p:nvSpPr>
        <p:spPr>
          <a:xfrm>
            <a:off x="3504438" y="1664208"/>
            <a:ext cx="23522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مدير الجودة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504438" y="1975104"/>
            <a:ext cx="2352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البيانات + التوزيع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46420" y="248716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704C"/>
                </a:solidFill>
              </a:rPr>
              <a:t>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59302" y="2487168"/>
            <a:ext cx="20413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الإذاعات والبرامج والحلقات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46420" y="314553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704C"/>
                </a:solidFill>
              </a:rPr>
              <a:t>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59302" y="3145536"/>
            <a:ext cx="20413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توزيع المقيمين ومتابعتهم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46420" y="380390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704C"/>
                </a:solidFill>
              </a:rPr>
              <a:t>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59302" y="3803904"/>
            <a:ext cx="20413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التقارير وذكاء الأعمال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22492" y="1554480"/>
            <a:ext cx="2571750" cy="3108960"/>
          </a:xfrm>
          <a:prstGeom prst="roundRect">
            <a:avLst>
              <a:gd name="adj" fmla="val 3556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2492" y="1554480"/>
            <a:ext cx="2571750" cy="777240"/>
          </a:xfrm>
          <a:prstGeom prst="roundRect">
            <a:avLst>
              <a:gd name="adj" fmla="val 11765"/>
            </a:avLst>
          </a:prstGeom>
          <a:solidFill>
            <a:srgbClr val="C99A2E"/>
          </a:solidFill>
          <a:ln/>
        </p:spPr>
      </p:sp>
      <p:sp>
        <p:nvSpPr>
          <p:cNvPr id="26" name="Text 24"/>
          <p:cNvSpPr/>
          <p:nvPr/>
        </p:nvSpPr>
        <p:spPr>
          <a:xfrm>
            <a:off x="6332220" y="1664208"/>
            <a:ext cx="23522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موظف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332220" y="1975104"/>
            <a:ext cx="2352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صلاحيات محددة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74202" y="248716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A2E"/>
                </a:solidFill>
              </a:rPr>
              <a:t>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87084" y="2487168"/>
            <a:ext cx="20413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فني و/أو محتوى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474202" y="314553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A2E"/>
                </a:solidFill>
              </a:rPr>
              <a:t>•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87084" y="3145536"/>
            <a:ext cx="20413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 شاشة الالتزام فقط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474202" y="380390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A2E"/>
                </a:solidFill>
              </a:rPr>
              <a:t>•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87084" y="3803904"/>
            <a:ext cx="20413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يرى مهامه هو فقط لا غير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050274" y="1554480"/>
            <a:ext cx="2571750" cy="3108960"/>
          </a:xfrm>
          <a:prstGeom prst="roundRect">
            <a:avLst>
              <a:gd name="adj" fmla="val 3556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0274" y="1554480"/>
            <a:ext cx="2571750" cy="777240"/>
          </a:xfrm>
          <a:prstGeom prst="roundRect">
            <a:avLst>
              <a:gd name="adj" fmla="val 11765"/>
            </a:avLst>
          </a:prstGeom>
          <a:solidFill>
            <a:srgbClr val="6D4C8C"/>
          </a:solidFill>
          <a:ln/>
        </p:spPr>
      </p:sp>
      <p:sp>
        <p:nvSpPr>
          <p:cNvPr id="36" name="Text 34"/>
          <p:cNvSpPr/>
          <p:nvPr/>
        </p:nvSpPr>
        <p:spPr>
          <a:xfrm>
            <a:off x="9160002" y="1664208"/>
            <a:ext cx="23522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مشاهد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9160002" y="1975104"/>
            <a:ext cx="2352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فقط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301984" y="248716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4C8C"/>
                </a:solidFill>
              </a:rPr>
              <a:t>•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214866" y="2487168"/>
            <a:ext cx="20413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القيادة والتقارير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301984" y="314553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4C8C"/>
                </a:solidFill>
              </a:rPr>
              <a:t>•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14866" y="3145536"/>
            <a:ext cx="20413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شاشة الالتزام للاطلاع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301984" y="380390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4C8C"/>
                </a:solidFill>
              </a:rPr>
              <a:t>•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214866" y="3803904"/>
            <a:ext cx="20413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يستطيع التعديل إطلاقاً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66928" y="4864608"/>
            <a:ext cx="11055096" cy="1188720"/>
          </a:xfrm>
          <a:prstGeom prst="roundRect">
            <a:avLst>
              <a:gd name="adj" fmla="val 7692"/>
            </a:avLst>
          </a:prstGeom>
          <a:solidFill>
            <a:srgbClr val="EDF4E6"/>
          </a:solidFill>
          <a:ln w="12700">
            <a:solidFill>
              <a:srgbClr val="789A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872216" y="5102352"/>
            <a:ext cx="512064" cy="512064"/>
          </a:xfrm>
          <a:prstGeom prst="ellipse">
            <a:avLst/>
          </a:prstGeom>
          <a:solidFill>
            <a:srgbClr val="47704C"/>
          </a:solidFill>
          <a:ln/>
        </p:spPr>
      </p:sp>
      <p:sp>
        <p:nvSpPr>
          <p:cNvPr id="46" name="Text 44"/>
          <p:cNvSpPr/>
          <p:nvPr/>
        </p:nvSpPr>
        <p:spPr>
          <a:xfrm>
            <a:off x="10872216" y="5102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41248" y="5029200"/>
            <a:ext cx="9774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477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الدخول بالنيابة عن أي عضو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41248" y="5358384"/>
            <a:ext cx="9774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يستطيع مدير النظام تصفح المنصة كما يراها أي موظف تماماً — لدعمه وحل مشاكله — مع شريط تنبيه دائم، وعودة بضغطة، وتوثيق كامل في سجل العمليات باسم المدير الحقيقي.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على الجوال + إشعارات فورية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يُثبَّت على آيفون وأندرويد من المتصفح — بلا متجر تطبيقات</a:t>
            </a:r>
            <a:endParaRPr lang="en-US" sz="1400" dirty="0"/>
          </a:p>
        </p:txBody>
      </p:sp>
      <p:pic>
        <p:nvPicPr>
          <p:cNvPr id="4" name="Image 0" descr="/private/tmp/claude-501/-Users-badrshfaqah-project-sba-quality/73fcc3c9-8a0a-4632-a3f1-18bfd2c4ae31/scratchpad/deck/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6858000" cy="4407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44968" y="1536192"/>
            <a:ext cx="3877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خطوات التثبيت مشروحة داخل المنصة: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744968" y="1938528"/>
            <a:ext cx="3877056" cy="731520"/>
          </a:xfrm>
          <a:prstGeom prst="roundRect">
            <a:avLst>
              <a:gd name="adj" fmla="val 12500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27848" y="201168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آيفون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27848" y="2286000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Safari ← زر المشاركة ← «إضافة إلى الشاشة الرئيسية»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44968" y="2779776"/>
            <a:ext cx="3877056" cy="731520"/>
          </a:xfrm>
          <a:prstGeom prst="roundRect">
            <a:avLst>
              <a:gd name="adj" fmla="val 12500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27848" y="2852928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أندرويد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27848" y="31272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← قائمة ⋮ ← «تثبيت التطبيق»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44968" y="3621024"/>
            <a:ext cx="3877056" cy="731520"/>
          </a:xfrm>
          <a:prstGeom prst="roundRect">
            <a:avLst>
              <a:gd name="adj" fmla="val 12500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27848" y="3694176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الكمبيوتر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27848" y="3968496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أيقونة التثبيت في شريط العنوان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44968" y="4526280"/>
            <a:ext cx="3877056" cy="1371600"/>
          </a:xfrm>
          <a:prstGeom prst="roundRect">
            <a:avLst>
              <a:gd name="adj" fmla="val 6667"/>
            </a:avLst>
          </a:prstGeom>
          <a:solidFill>
            <a:srgbClr val="1C1E4C"/>
          </a:solidFill>
          <a:ln/>
        </p:spPr>
      </p:sp>
      <p:sp>
        <p:nvSpPr>
          <p:cNvPr id="16" name="Text 13"/>
          <p:cNvSpPr/>
          <p:nvPr/>
        </p:nvSpPr>
        <p:spPr>
          <a:xfrm>
            <a:off x="7946136" y="46451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78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الإشعارات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946136" y="495604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3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تصل فوراً عند إسناد مهمة تقييم — حتى والتطبيق مغلق. ويستطيع المدير بث تنبيه عام للجميع، مع عدّاد بعدد الموظفين والأجهزة المفعّلة.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 والموثوقية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خضع النظام لمراجعة أمنية شاملة على ثلاثة محاور — والنتيجة موثقة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2152" cy="105156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47288" y="1737360"/>
            <a:ext cx="402336" cy="402336"/>
          </a:xfrm>
          <a:prstGeom prst="ellipse">
            <a:avLst/>
          </a:prstGeom>
          <a:solidFill>
            <a:srgbClr val="789A3D"/>
          </a:solidFill>
          <a:ln/>
        </p:spPr>
      </p:sp>
      <p:sp>
        <p:nvSpPr>
          <p:cNvPr id="6" name="Text 4"/>
          <p:cNvSpPr/>
          <p:nvPr/>
        </p:nvSpPr>
        <p:spPr>
          <a:xfrm>
            <a:off x="3447288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1700784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حقن SQL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2029968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الاستعلامات مُعدّة ومربوطة — نظيف تماماً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502152" cy="105156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0" y="1737360"/>
            <a:ext cx="402336" cy="402336"/>
          </a:xfrm>
          <a:prstGeom prst="ellipse">
            <a:avLst/>
          </a:prstGeom>
          <a:solidFill>
            <a:srgbClr val="789A3D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44568" y="1700784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حماية CSRF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44568" y="2029968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رمز على كل نموذج، وتغطية شاملة قبل أي تعديل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19872" y="1554480"/>
            <a:ext cx="3502152" cy="105156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00232" y="1737360"/>
            <a:ext cx="402336" cy="402336"/>
          </a:xfrm>
          <a:prstGeom prst="ellipse">
            <a:avLst/>
          </a:prstGeom>
          <a:solidFill>
            <a:srgbClr val="789A3D"/>
          </a:solidFill>
          <a:ln/>
        </p:spPr>
      </p:sp>
      <p:sp>
        <p:nvSpPr>
          <p:cNvPr id="16" name="Text 14"/>
          <p:cNvSpPr/>
          <p:nvPr/>
        </p:nvSpPr>
        <p:spPr>
          <a:xfrm>
            <a:off x="11000232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1700784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كلمات المرور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029968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تشفير معياري + حد 10 محاولات دخول لكل IP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2862072"/>
            <a:ext cx="3502152" cy="105156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47288" y="3044952"/>
            <a:ext cx="402336" cy="402336"/>
          </a:xfrm>
          <a:prstGeom prst="ellipse">
            <a:avLst/>
          </a:prstGeom>
          <a:solidFill>
            <a:srgbClr val="789A3D"/>
          </a:solidFill>
          <a:ln/>
        </p:spPr>
      </p:sp>
      <p:sp>
        <p:nvSpPr>
          <p:cNvPr id="21" name="Text 19"/>
          <p:cNvSpPr/>
          <p:nvPr/>
        </p:nvSpPr>
        <p:spPr>
          <a:xfrm>
            <a:off x="3447288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8096" y="300837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الملفات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096" y="333756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تحقق صارم قاوم كل محاولات التجاوز في المراجعة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2862072"/>
            <a:ext cx="3502152" cy="105156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3044952"/>
            <a:ext cx="402336" cy="402336"/>
          </a:xfrm>
          <a:prstGeom prst="ellipse">
            <a:avLst/>
          </a:prstGeom>
          <a:solidFill>
            <a:srgbClr val="789A3D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44568" y="300837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عزل البيانات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44568" y="333756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الموظف لا يرى تكليفات غيره ولا درجاتهم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19872" y="2862072"/>
            <a:ext cx="3502152" cy="105156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00232" y="3044952"/>
            <a:ext cx="402336" cy="402336"/>
          </a:xfrm>
          <a:prstGeom prst="ellipse">
            <a:avLst/>
          </a:prstGeom>
          <a:solidFill>
            <a:srgbClr val="789A3D"/>
          </a:solidFill>
          <a:ln/>
        </p:spPr>
      </p:sp>
      <p:sp>
        <p:nvSpPr>
          <p:cNvPr id="31" name="Text 29"/>
          <p:cNvSpPr/>
          <p:nvPr/>
        </p:nvSpPr>
        <p:spPr>
          <a:xfrm>
            <a:off x="11000232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21040" y="300837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العمليات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21040" y="333756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 كامل لكل إجراء حساس مع IP والوقت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4224528"/>
            <a:ext cx="11055096" cy="1828800"/>
          </a:xfrm>
          <a:prstGeom prst="roundRect">
            <a:avLst>
              <a:gd name="adj" fmla="val 5000"/>
            </a:avLst>
          </a:prstGeom>
          <a:solidFill>
            <a:srgbClr val="1C1E4C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" y="4389120"/>
            <a:ext cx="10415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78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النسخ الاحتياطي والاستعادة — من داخل المنصة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6968" y="4754880"/>
            <a:ext cx="10415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3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توليد ملف SQL كامل بضغطة واحدة (بنية الجداول وكل البيانات) واستعادته من الشاشة نفسها أو عبر phpMyAdmin — بدون أدوات خارجية ولا صلاحيات سيرفر خاصة. ونسخة احتياطية تلقائية تُؤخذ قبل كل تحديث للنظام.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التركيب والتحديث الذاتي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الرفع إلى التشغيل في دقائق — والتحديث بضغطة زر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59068" y="1554480"/>
            <a:ext cx="5362956" cy="4206240"/>
          </a:xfrm>
          <a:prstGeom prst="roundRect">
            <a:avLst>
              <a:gd name="adj" fmla="val 2174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72216" y="1792224"/>
            <a:ext cx="512064" cy="512064"/>
          </a:xfrm>
          <a:prstGeom prst="ellipse">
            <a:avLst/>
          </a:prstGeom>
          <a:solidFill>
            <a:srgbClr val="789A3D"/>
          </a:solidFill>
          <a:ln/>
        </p:spPr>
      </p:sp>
      <p:sp>
        <p:nvSpPr>
          <p:cNvPr id="6" name="Text 4"/>
          <p:cNvSpPr/>
          <p:nvPr/>
        </p:nvSpPr>
        <p:spPr>
          <a:xfrm>
            <a:off x="10872216" y="1792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33388" y="1810512"/>
            <a:ext cx="417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معالج التثبيت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33388" y="2249424"/>
            <a:ext cx="4485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يظهر تلقائياً عند أول تشغيل ويقفل نفسه بعد الانتهاء: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055096" y="2770632"/>
            <a:ext cx="274320" cy="274320"/>
          </a:xfrm>
          <a:prstGeom prst="ellipse">
            <a:avLst/>
          </a:prstGeom>
          <a:solidFill>
            <a:srgbClr val="F4F6FA"/>
          </a:solidFill>
          <a:ln w="12700">
            <a:solidFill>
              <a:srgbClr val="789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55096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704C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33388" y="2743200"/>
            <a:ext cx="4311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متطلبات السيرفر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1055096" y="3319272"/>
            <a:ext cx="274320" cy="274320"/>
          </a:xfrm>
          <a:prstGeom prst="ellipse">
            <a:avLst/>
          </a:prstGeom>
          <a:solidFill>
            <a:srgbClr val="F4F6FA"/>
          </a:solidFill>
          <a:ln w="12700">
            <a:solidFill>
              <a:srgbClr val="789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55096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704C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33388" y="3291840"/>
            <a:ext cx="4311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إدخال بيانات MySQL واختبار الاتصال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1055096" y="3867912"/>
            <a:ext cx="274320" cy="274320"/>
          </a:xfrm>
          <a:prstGeom prst="ellipse">
            <a:avLst/>
          </a:prstGeom>
          <a:solidFill>
            <a:srgbClr val="F4F6FA"/>
          </a:solidFill>
          <a:ln w="12700">
            <a:solidFill>
              <a:srgbClr val="789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55096" y="3867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704C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33388" y="3840480"/>
            <a:ext cx="4311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الجداول وزراعة البيانات الافتراضية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1055096" y="4416552"/>
            <a:ext cx="274320" cy="274320"/>
          </a:xfrm>
          <a:prstGeom prst="ellipse">
            <a:avLst/>
          </a:prstGeom>
          <a:solidFill>
            <a:srgbClr val="F4F6FA"/>
          </a:solidFill>
          <a:ln w="12700">
            <a:solidFill>
              <a:srgbClr val="789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55096" y="4416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704C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33388" y="4389120"/>
            <a:ext cx="4311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أول مدير نظام وأول إذاعة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1055096" y="4965192"/>
            <a:ext cx="274320" cy="274320"/>
          </a:xfrm>
          <a:prstGeom prst="ellipse">
            <a:avLst/>
          </a:prstGeom>
          <a:solidFill>
            <a:srgbClr val="F4F6FA"/>
          </a:solidFill>
          <a:ln w="12700">
            <a:solidFill>
              <a:srgbClr val="789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55096" y="4965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704C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3388" y="4937760"/>
            <a:ext cx="4311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ملف الإعدادات وقفل التثبيت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33388" y="5138928"/>
            <a:ext cx="4485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خيار إضافي: تحميل بيانات تجريبية كاملة للتعرف على المنصة — تُزال لاحقاً بضغطة دون المساس ببياناتك.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1554480"/>
            <a:ext cx="5362956" cy="4206240"/>
          </a:xfrm>
          <a:prstGeom prst="roundRect">
            <a:avLst>
              <a:gd name="adj" fmla="val 2174"/>
            </a:avLst>
          </a:prstGeom>
          <a:solidFill>
            <a:srgbClr val="1C1E4C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80076" y="1792224"/>
            <a:ext cx="512064" cy="512064"/>
          </a:xfrm>
          <a:prstGeom prst="ellipse">
            <a:avLst/>
          </a:prstGeom>
          <a:solidFill>
            <a:srgbClr val="789A3D"/>
          </a:solidFill>
          <a:ln/>
        </p:spPr>
      </p:sp>
      <p:sp>
        <p:nvSpPr>
          <p:cNvPr id="27" name="Text 25"/>
          <p:cNvSpPr/>
          <p:nvPr/>
        </p:nvSpPr>
        <p:spPr>
          <a:xfrm>
            <a:off x="5180076" y="1792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1248" y="1810512"/>
            <a:ext cx="417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التحديث الذاتي من GitHub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841248" y="2249424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زر واحد في لوحة المدير — بلا FTP ولا سطر أوامر: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72684" y="27432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A3D"/>
                </a:solidFill>
              </a:rPr>
              <a:t>▪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" y="2743200"/>
            <a:ext cx="45857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نسخة احتياطية تلقائية لقاعدة البيانات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72684" y="32918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A3D"/>
                </a:solidFill>
              </a:rPr>
              <a:t>▪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" y="3291840"/>
            <a:ext cx="45857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تنزيل أحدث إصدار من المستودع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72684" y="38404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A3D"/>
                </a:solidFill>
              </a:rPr>
              <a:t>▪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" y="3840480"/>
            <a:ext cx="45857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استبدال الملفات مع حماية الإعدادات والمرفقات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72684" y="43891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A3D"/>
                </a:solidFill>
              </a:rPr>
              <a:t>▪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1248" y="4389120"/>
            <a:ext cx="45857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ترقية قاعدة البيانات وإضافة الجداول الجديدة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472684" y="49377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A3D"/>
                </a:solidFill>
              </a:rPr>
              <a:t>▪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" y="4937760"/>
            <a:ext cx="45857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يدعم المستودعات الخاصة برمز وصول آمن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41248" y="5138928"/>
            <a:ext cx="4814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تحديث موثّق في سجل العمليات، ونسخة ما قبل التحديث محفوظة للرجوع.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 التقنية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نواة + موديولات — كل ميزة إضافة مستقلة قابلة للتطوير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1055096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النواة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95528" y="2148840"/>
            <a:ext cx="1257953" cy="566928"/>
          </a:xfrm>
          <a:prstGeom prst="roundRect">
            <a:avLst>
              <a:gd name="adj" fmla="val 12903"/>
            </a:avLst>
          </a:prstGeom>
          <a:solidFill>
            <a:srgbClr val="1C1E4C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148840"/>
            <a:ext cx="11665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المستخدمون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9785" y="2148840"/>
            <a:ext cx="1257953" cy="566928"/>
          </a:xfrm>
          <a:prstGeom prst="roundRect">
            <a:avLst>
              <a:gd name="adj" fmla="val 12903"/>
            </a:avLst>
          </a:prstGeom>
          <a:solidFill>
            <a:srgbClr val="1C1E4C"/>
          </a:solidFill>
          <a:ln/>
        </p:spPr>
      </p:sp>
      <p:sp>
        <p:nvSpPr>
          <p:cNvPr id="9" name="Text 7"/>
          <p:cNvSpPr/>
          <p:nvPr/>
        </p:nvSpPr>
        <p:spPr>
          <a:xfrm>
            <a:off x="2245505" y="2148840"/>
            <a:ext cx="11665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الصلاحيات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04042" y="2148840"/>
            <a:ext cx="1257953" cy="566928"/>
          </a:xfrm>
          <a:prstGeom prst="roundRect">
            <a:avLst>
              <a:gd name="adj" fmla="val 12903"/>
            </a:avLst>
          </a:prstGeom>
          <a:solidFill>
            <a:srgbClr val="1C1E4C"/>
          </a:solidFill>
          <a:ln/>
        </p:spPr>
      </p:sp>
      <p:sp>
        <p:nvSpPr>
          <p:cNvPr id="11" name="Text 9"/>
          <p:cNvSpPr/>
          <p:nvPr/>
        </p:nvSpPr>
        <p:spPr>
          <a:xfrm>
            <a:off x="3649762" y="2148840"/>
            <a:ext cx="11665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الدخول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08299" y="2148840"/>
            <a:ext cx="1257953" cy="566928"/>
          </a:xfrm>
          <a:prstGeom prst="roundRect">
            <a:avLst>
              <a:gd name="adj" fmla="val 12903"/>
            </a:avLst>
          </a:prstGeom>
          <a:solidFill>
            <a:srgbClr val="1C1E4C"/>
          </a:solidFill>
          <a:ln/>
        </p:spPr>
      </p:sp>
      <p:sp>
        <p:nvSpPr>
          <p:cNvPr id="13" name="Text 11"/>
          <p:cNvSpPr/>
          <p:nvPr/>
        </p:nvSpPr>
        <p:spPr>
          <a:xfrm>
            <a:off x="5054019" y="2148840"/>
            <a:ext cx="11665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العمليات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12557" y="2148840"/>
            <a:ext cx="1257953" cy="566928"/>
          </a:xfrm>
          <a:prstGeom prst="roundRect">
            <a:avLst>
              <a:gd name="adj" fmla="val 12903"/>
            </a:avLst>
          </a:prstGeom>
          <a:solidFill>
            <a:srgbClr val="1C1E4C"/>
          </a:solidFill>
          <a:ln/>
        </p:spPr>
      </p:sp>
      <p:sp>
        <p:nvSpPr>
          <p:cNvPr id="15" name="Text 13"/>
          <p:cNvSpPr/>
          <p:nvPr/>
        </p:nvSpPr>
        <p:spPr>
          <a:xfrm>
            <a:off x="6458277" y="2148840"/>
            <a:ext cx="11665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النسخ الاحتياطي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816814" y="2148840"/>
            <a:ext cx="1257953" cy="566928"/>
          </a:xfrm>
          <a:prstGeom prst="roundRect">
            <a:avLst>
              <a:gd name="adj" fmla="val 12903"/>
            </a:avLst>
          </a:prstGeom>
          <a:solidFill>
            <a:srgbClr val="1C1E4C"/>
          </a:solidFill>
          <a:ln/>
        </p:spPr>
      </p:sp>
      <p:sp>
        <p:nvSpPr>
          <p:cNvPr id="17" name="Text 15"/>
          <p:cNvSpPr/>
          <p:nvPr/>
        </p:nvSpPr>
        <p:spPr>
          <a:xfrm>
            <a:off x="7862534" y="2148840"/>
            <a:ext cx="11665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الإعدادات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221071" y="2148840"/>
            <a:ext cx="1257953" cy="566928"/>
          </a:xfrm>
          <a:prstGeom prst="roundRect">
            <a:avLst>
              <a:gd name="adj" fmla="val 12903"/>
            </a:avLst>
          </a:prstGeom>
          <a:solidFill>
            <a:srgbClr val="1C1E4C"/>
          </a:solidFill>
          <a:ln/>
        </p:spPr>
      </p:sp>
      <p:sp>
        <p:nvSpPr>
          <p:cNvPr id="19" name="Text 17"/>
          <p:cNvSpPr/>
          <p:nvPr/>
        </p:nvSpPr>
        <p:spPr>
          <a:xfrm>
            <a:off x="9266791" y="2148840"/>
            <a:ext cx="11665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الإشعارات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3154680"/>
            <a:ext cx="11055096" cy="1417320"/>
          </a:xfrm>
          <a:prstGeom prst="roundRect">
            <a:avLst>
              <a:gd name="adj" fmla="val 6452"/>
            </a:avLst>
          </a:prstGeom>
          <a:solidFill>
            <a:srgbClr val="EDF4E6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41864" y="3291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477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الموديولات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95528" y="3749040"/>
            <a:ext cx="1075563" cy="566928"/>
          </a:xfrm>
          <a:prstGeom prst="roundRect">
            <a:avLst>
              <a:gd name="adj" fmla="val 12903"/>
            </a:avLst>
          </a:prstGeom>
          <a:solidFill>
            <a:srgbClr val="47704C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" y="3749040"/>
            <a:ext cx="10024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الإذاعات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99107" y="3749040"/>
            <a:ext cx="1075563" cy="566928"/>
          </a:xfrm>
          <a:prstGeom prst="roundRect">
            <a:avLst>
              <a:gd name="adj" fmla="val 12903"/>
            </a:avLst>
          </a:prstGeom>
          <a:solidFill>
            <a:srgbClr val="47704C"/>
          </a:solidFill>
          <a:ln/>
        </p:spPr>
      </p:sp>
      <p:sp>
        <p:nvSpPr>
          <p:cNvPr id="25" name="Text 23"/>
          <p:cNvSpPr/>
          <p:nvPr/>
        </p:nvSpPr>
        <p:spPr>
          <a:xfrm>
            <a:off x="2035683" y="3749040"/>
            <a:ext cx="10024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البرامج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2686" y="3749040"/>
            <a:ext cx="1075563" cy="566928"/>
          </a:xfrm>
          <a:prstGeom prst="roundRect">
            <a:avLst>
              <a:gd name="adj" fmla="val 12903"/>
            </a:avLst>
          </a:prstGeom>
          <a:solidFill>
            <a:srgbClr val="47704C"/>
          </a:solidFill>
          <a:ln/>
        </p:spPr>
      </p:sp>
      <p:sp>
        <p:nvSpPr>
          <p:cNvPr id="27" name="Text 25"/>
          <p:cNvSpPr/>
          <p:nvPr/>
        </p:nvSpPr>
        <p:spPr>
          <a:xfrm>
            <a:off x="3239262" y="3749040"/>
            <a:ext cx="10024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الحلقات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06265" y="3749040"/>
            <a:ext cx="1075563" cy="566928"/>
          </a:xfrm>
          <a:prstGeom prst="roundRect">
            <a:avLst>
              <a:gd name="adj" fmla="val 12903"/>
            </a:avLst>
          </a:prstGeom>
          <a:solidFill>
            <a:srgbClr val="47704C"/>
          </a:solidFill>
          <a:ln/>
        </p:spPr>
      </p:sp>
      <p:sp>
        <p:nvSpPr>
          <p:cNvPr id="29" name="Text 27"/>
          <p:cNvSpPr/>
          <p:nvPr/>
        </p:nvSpPr>
        <p:spPr>
          <a:xfrm>
            <a:off x="4442841" y="3749040"/>
            <a:ext cx="10024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09844" y="3749040"/>
            <a:ext cx="1075563" cy="566928"/>
          </a:xfrm>
          <a:prstGeom prst="roundRect">
            <a:avLst>
              <a:gd name="adj" fmla="val 12903"/>
            </a:avLst>
          </a:prstGeom>
          <a:solidFill>
            <a:srgbClr val="47704C"/>
          </a:solidFill>
          <a:ln/>
        </p:spPr>
      </p:sp>
      <p:sp>
        <p:nvSpPr>
          <p:cNvPr id="31" name="Text 29"/>
          <p:cNvSpPr/>
          <p:nvPr/>
        </p:nvSpPr>
        <p:spPr>
          <a:xfrm>
            <a:off x="5646420" y="3749040"/>
            <a:ext cx="10024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الالتزام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13423" y="3749040"/>
            <a:ext cx="1075563" cy="566928"/>
          </a:xfrm>
          <a:prstGeom prst="roundRect">
            <a:avLst>
              <a:gd name="adj" fmla="val 12903"/>
            </a:avLst>
          </a:prstGeom>
          <a:solidFill>
            <a:srgbClr val="47704C"/>
          </a:solidFill>
          <a:ln/>
        </p:spPr>
      </p:sp>
      <p:sp>
        <p:nvSpPr>
          <p:cNvPr id="33" name="Text 31"/>
          <p:cNvSpPr/>
          <p:nvPr/>
        </p:nvSpPr>
        <p:spPr>
          <a:xfrm>
            <a:off x="6849999" y="3749040"/>
            <a:ext cx="10024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التقارير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17002" y="3749040"/>
            <a:ext cx="1075563" cy="566928"/>
          </a:xfrm>
          <a:prstGeom prst="roundRect">
            <a:avLst>
              <a:gd name="adj" fmla="val 12903"/>
            </a:avLst>
          </a:prstGeom>
          <a:solidFill>
            <a:srgbClr val="47704C"/>
          </a:solidFill>
          <a:ln/>
        </p:spPr>
      </p:sp>
      <p:sp>
        <p:nvSpPr>
          <p:cNvPr id="35" name="Text 33"/>
          <p:cNvSpPr/>
          <p:nvPr/>
        </p:nvSpPr>
        <p:spPr>
          <a:xfrm>
            <a:off x="8053578" y="3749040"/>
            <a:ext cx="10024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ذكاء الأعمال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220581" y="3749040"/>
            <a:ext cx="1075563" cy="566928"/>
          </a:xfrm>
          <a:prstGeom prst="roundRect">
            <a:avLst>
              <a:gd name="adj" fmla="val 12903"/>
            </a:avLst>
          </a:prstGeom>
          <a:solidFill>
            <a:srgbClr val="47704C"/>
          </a:solidFill>
          <a:ln/>
        </p:spPr>
      </p:sp>
      <p:sp>
        <p:nvSpPr>
          <p:cNvPr id="37" name="Text 35"/>
          <p:cNvSpPr/>
          <p:nvPr/>
        </p:nvSpPr>
        <p:spPr>
          <a:xfrm>
            <a:off x="9257157" y="3749040"/>
            <a:ext cx="10024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المتابعة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6928" y="4754880"/>
            <a:ext cx="2571750" cy="1234440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4901184"/>
            <a:ext cx="2205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بلغة PHP الأصلية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49808" y="5230368"/>
            <a:ext cx="22059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 أطر عمل ثقيلة — سريع وخفيف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94710" y="4754880"/>
            <a:ext cx="2571750" cy="1234440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77590" y="4901184"/>
            <a:ext cx="2205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MySQL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3577590" y="5230368"/>
            <a:ext cx="22059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جدولاً بعلاقات وقيود سلامة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22492" y="4754880"/>
            <a:ext cx="2571750" cy="1234440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5372" y="4901184"/>
            <a:ext cx="2205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عربي RTL بالكامل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6405372" y="5230368"/>
            <a:ext cx="22059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تاريخ ميلادي ووقت 24 ساعة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050274" y="4754880"/>
            <a:ext cx="2571750" cy="1234440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33154" y="4901184"/>
            <a:ext cx="2205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C1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متجاوب تماماً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9233154" y="5230368"/>
            <a:ext cx="22059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جوال وكمبيوتر بلا تداخل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1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669280" cy="5669280"/>
          </a:xfrm>
          <a:prstGeom prst="ellipse">
            <a:avLst/>
          </a:prstGeom>
          <a:solidFill>
            <a:srgbClr val="2A2D6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47704C"/>
          </a:solidFill>
          <a:ln/>
        </p:spPr>
      </p:sp>
      <p:sp>
        <p:nvSpPr>
          <p:cNvPr id="4" name="Shape 2"/>
          <p:cNvSpPr/>
          <p:nvPr/>
        </p:nvSpPr>
        <p:spPr>
          <a:xfrm>
            <a:off x="9884664" y="50292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pic>
        <p:nvPicPr>
          <p:cNvPr id="5" name="Image 0" descr="/Users/badrshfaqah/project/sba-quality/assets/img/SB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4" y="603504"/>
            <a:ext cx="1280160" cy="8503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828800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جاهزة اليوم — وقابلة للتوسع غداً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11590020" y="2880360"/>
            <a:ext cx="32004" cy="960120"/>
          </a:xfrm>
          <a:prstGeom prst="rect">
            <a:avLst/>
          </a:prstGeom>
          <a:solidFill>
            <a:srgbClr val="789A3D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2880360"/>
            <a:ext cx="10826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78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6928" y="3227832"/>
            <a:ext cx="10826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3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موحّد للجودة، متابعة منضبطة للالتزام، تقارير ورؤى تقود القرار، وتطبيق جوال بإشعارات فورية.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1590020" y="4114800"/>
            <a:ext cx="32004" cy="960120"/>
          </a:xfrm>
          <a:prstGeom prst="rect">
            <a:avLst/>
          </a:prstGeom>
          <a:solidFill>
            <a:srgbClr val="789A3D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4114800"/>
            <a:ext cx="10826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78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غداً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66928" y="4462272"/>
            <a:ext cx="10826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3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نواة الموديولات تسمح بإضافة أي ميزة جديدة كإضافة مستقلة — تنبيهات بريدية، تكامل مع أنظمة البث، مؤشرات إضافية — دون المساس بما يعمل.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66928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7C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متابعة جودة البث والمحتوى الإذاعي   •   الإصدار 1.8.0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منصة متابعة جودة البث والمحتوى الإذاعي</dc:title>
  <dc:subject>PptxGenJS Presentation</dc:subject>
  <dc:creator>هيئة الإذاعة والتلفزيون</dc:creator>
  <cp:lastModifiedBy>هيئة الإذاعة والتلفزيون</cp:lastModifiedBy>
  <cp:revision>1</cp:revision>
  <dcterms:created xsi:type="dcterms:W3CDTF">2026-08-05T12:38:12Z</dcterms:created>
  <dcterms:modified xsi:type="dcterms:W3CDTF">2026-08-05T12:38:12Z</dcterms:modified>
</cp:coreProperties>
</file>